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22"/>
  </p:notesMasterIdLst>
  <p:sldIdLst>
    <p:sldId id="291" r:id="rId2"/>
    <p:sldId id="256" r:id="rId3"/>
    <p:sldId id="264" r:id="rId4"/>
    <p:sldId id="263" r:id="rId5"/>
    <p:sldId id="265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9" r:id="rId14"/>
    <p:sldId id="281" r:id="rId15"/>
    <p:sldId id="289" r:id="rId16"/>
    <p:sldId id="280" r:id="rId17"/>
    <p:sldId id="284" r:id="rId18"/>
    <p:sldId id="287" r:id="rId19"/>
    <p:sldId id="285" r:id="rId20"/>
    <p:sldId id="28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28"/>
    <a:srgbClr val="E01E1E"/>
    <a:srgbClr val="5B9BD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C054D0-9B86-4D93-BD80-8D74483A19DF}" v="408" dt="2026-10-29T05:11:42.3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FAA35-6808-4B22-98E8-C7979285D866}" type="datetimeFigureOut">
              <a:rPr lang="en-IN" smtClean="0"/>
              <a:t>29-10-2026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29E90-8508-443D-B81F-8FEFC3F359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8547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9161E-3283-8A30-3E92-51140D2AC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A35D74-8A86-48FE-57BC-DA723C96E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AE200-E57A-9309-CBD7-E8EDD962C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29-10-2026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69CF9-8110-0296-4248-BF3DA1345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9362B-C553-4DA0-424D-90BC844CC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2106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71780-64A6-0C46-A5C1-EBB49E70C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5A8C0-0398-C884-3091-DF1F266E5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9889D-B5D2-BEBD-ACEC-49D0B75E2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29-10-2026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B674A-D204-F077-26E5-FEDF576C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E0001-8654-48F7-34FD-C9FD2400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1147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271F0-628A-CF6E-5A34-3CD9CDE5C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A7389-D750-8C77-D509-A94629163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529A4-D84F-D6DB-F122-E0883AD1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29-10-2026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61FE5-6C24-5380-F4C1-643D2031E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28B5E-9076-ECD8-9114-AE64C69D2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009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8FDEA-A722-DCAF-5658-829423940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800A9-AA3C-C3E4-27E0-A659EEC262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624FA-594A-D7F0-8F88-E3978280A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D76F8-94F7-7DEF-38B7-81E8B0C94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29-10-2026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63D2A-EC30-6E0B-60CD-A72DD4C19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55327-B59C-5E92-935B-B7E973A4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4326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8652-87B6-A51C-B9C7-19F351221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65947-92E6-D6C9-DA8C-4220D7C81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A60B0-63DE-44EE-E89C-47ED646F4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5F6AE3-E646-A23C-E9AE-5B4F56BAC5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F1F2B4-4984-3075-CCD5-9BFC356A2B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797A19-6A8F-54E5-E408-065C5190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29-10-2026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A2932B-72A3-4D75-E2F0-2CB9E6B8A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11DBC0-2D0B-B2CE-36AF-75D8F6C21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9589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DAE14-503D-4623-B1ED-6A4E4848E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0A9D54-5205-9925-E4F7-9FAB09EBE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29-10-2026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2E06C8-CA8C-773B-F9EA-C640CB8E8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9CFFB-B594-FA80-4B61-8D6367C23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4058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7F0672-54EF-CC21-43B7-2A579BC9A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29-10-2026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3C49CC-FE96-6361-357E-C6B92152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B3737-4F69-9A40-0DB5-EB0E9AE02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6051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AA199-910C-56DF-1239-D2C665A71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28FE2-3499-7FD7-1279-D458C3CF9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06EC2-7E79-11CA-F4FA-D9172ABC5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F8E51-6116-9878-87B5-8BC0789E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29-10-2026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BDE9A-DF50-917C-B3C0-7842883C7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C7FC2-82F7-C248-C7E4-C0E0F8D68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196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9448-54EE-03DE-8111-BAC630FB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C1DC0A-CB40-9904-45A2-0873469FDDD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651105-E740-A71C-882A-7D66B3D57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0E47B-5B1D-1718-1F66-B6015907B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29-10-2026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38D94A-78D7-67EB-2BF1-51A58A8E4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4AF95-8482-0ED1-6DDA-1C6E332A6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1707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C254-0F1C-59EA-D312-D1CA6DC7C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751AD-4E4E-36F7-BB55-60C85DABE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0184F-02EA-365B-963C-DB9E43DAB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29-10-2026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21D24-8279-4284-C139-F1615FF44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685D1-DAFE-F611-2B56-1FDDDB5F9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4444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BF2204-D3E4-7A12-E257-BB91E69702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E29B3-10CB-5AFE-F8C2-7482BEDBAD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0A5F0-AAF9-9FF6-5578-D88247824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29-10-2026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45E0D-BB23-BAC8-C9AC-B3A5A4AD2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D4060-1B99-1D2B-97A6-A134A1017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5139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29-10-2026</a:t>
            </a:fld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457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29-10-2026</a:t>
            </a:fld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94293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B56481-CAFD-7FDD-EF40-605C4AA2A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C28F7-BE5B-0470-A8FB-58C26AA45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F7014-7330-655F-0519-9BA27D81F8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54CA1-5AEC-478B-980A-A8030DD29D2E}" type="datetimeFigureOut">
              <a:rPr lang="en-IN" smtClean="0"/>
              <a:t>29-10-2026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1C8B1-2FB2-6C49-40F9-4D2D4B0BE1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7F727-931A-7B08-F53F-1D98EBD02E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96F82-7148-4898-9EF7-064D4B81F20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9442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0074A-422C-C737-8889-1064243FD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F47E9586-50FB-920E-C91D-E1868A2739AE}"/>
              </a:ext>
            </a:extLst>
          </p:cNvPr>
          <p:cNvSpPr/>
          <p:nvPr/>
        </p:nvSpPr>
        <p:spPr>
          <a:xfrm>
            <a:off x="8368392" y="4632678"/>
            <a:ext cx="2634345" cy="1234673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tx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17284A-1037-C1EF-E178-B72818A74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63967" y="5867351"/>
            <a:ext cx="975629" cy="8851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E237F1-7D90-FC2D-9DEF-B3946672D8BE}"/>
              </a:ext>
            </a:extLst>
          </p:cNvPr>
          <p:cNvSpPr txBox="1"/>
          <p:nvPr/>
        </p:nvSpPr>
        <p:spPr>
          <a:xfrm>
            <a:off x="8490856" y="4759479"/>
            <a:ext cx="25118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r>
              <a:rPr lang="en-IN" sz="2400" b="1" dirty="0"/>
              <a:t>SIRAVENI SHIVANI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900D410C-0BE9-50B3-66B2-763D388B8C9A}"/>
              </a:ext>
            </a:extLst>
          </p:cNvPr>
          <p:cNvSpPr/>
          <p:nvPr/>
        </p:nvSpPr>
        <p:spPr>
          <a:xfrm>
            <a:off x="1513114" y="500743"/>
            <a:ext cx="8817427" cy="3875313"/>
          </a:xfrm>
          <a:prstGeom prst="cloud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D6045C-7671-A5FB-4863-B5CF682ECA12}"/>
              </a:ext>
            </a:extLst>
          </p:cNvPr>
          <p:cNvSpPr txBox="1"/>
          <p:nvPr/>
        </p:nvSpPr>
        <p:spPr>
          <a:xfrm>
            <a:off x="2352675" y="1689593"/>
            <a:ext cx="71383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DOCTOR-PATIENT RECORD MANAGEMENT SYSTEM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ABB65F-2DF2-7C6E-FC53-2B5C5E6E08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3" y="5344884"/>
            <a:ext cx="1643113" cy="1242867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8CCABD49-AE9B-3220-C953-032041FBEAE2}"/>
              </a:ext>
            </a:extLst>
          </p:cNvPr>
          <p:cNvSpPr/>
          <p:nvPr/>
        </p:nvSpPr>
        <p:spPr>
          <a:xfrm flipV="1">
            <a:off x="1981198" y="3934813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6B70DC-E11F-4E52-16B2-9B094C39FF28}"/>
              </a:ext>
            </a:extLst>
          </p:cNvPr>
          <p:cNvSpPr/>
          <p:nvPr/>
        </p:nvSpPr>
        <p:spPr>
          <a:xfrm flipV="1">
            <a:off x="1561474" y="4509577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09DEB88-694D-6E4A-C2DE-B3FD9DAFBCE0}"/>
              </a:ext>
            </a:extLst>
          </p:cNvPr>
          <p:cNvSpPr/>
          <p:nvPr/>
        </p:nvSpPr>
        <p:spPr>
          <a:xfrm flipV="1">
            <a:off x="1189263" y="5002360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1151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B0C2CB27-BA8D-0C3F-1632-EAB537BB19E4}"/>
              </a:ext>
            </a:extLst>
          </p:cNvPr>
          <p:cNvSpPr/>
          <p:nvPr/>
        </p:nvSpPr>
        <p:spPr>
          <a:xfrm>
            <a:off x="542924" y="353695"/>
            <a:ext cx="6293305" cy="2622634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a query to find the city with the highest number of patient visits</a:t>
            </a:r>
            <a:r>
              <a:rPr lang="en-IN" sz="2800" b="1">
                <a:solidFill>
                  <a:schemeClr val="tx1"/>
                </a:solidFill>
              </a:rPr>
              <a:t>.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4EA66F6-6CB5-F2CE-F6F3-8A28EF757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AFF083B2-57DB-914E-1230-CAE4D295D6A4}"/>
              </a:ext>
            </a:extLst>
          </p:cNvPr>
          <p:cNvSpPr/>
          <p:nvPr/>
        </p:nvSpPr>
        <p:spPr>
          <a:xfrm flipV="1">
            <a:off x="1017815" y="4896184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6ABFA76-A110-6A9B-53D7-4E226ACE3DF2}"/>
              </a:ext>
            </a:extLst>
          </p:cNvPr>
          <p:cNvSpPr/>
          <p:nvPr/>
        </p:nvSpPr>
        <p:spPr>
          <a:xfrm flipV="1">
            <a:off x="1692727" y="3442864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0C06123-5683-6C3E-C770-64D3F8626491}"/>
              </a:ext>
            </a:extLst>
          </p:cNvPr>
          <p:cNvSpPr/>
          <p:nvPr/>
        </p:nvSpPr>
        <p:spPr>
          <a:xfrm flipV="1">
            <a:off x="1341666" y="4199336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FFE2126E-E42F-86B2-94F5-AB7B798EC8A2}"/>
              </a:ext>
            </a:extLst>
          </p:cNvPr>
          <p:cNvSpPr/>
          <p:nvPr/>
        </p:nvSpPr>
        <p:spPr>
          <a:xfrm>
            <a:off x="7526789" y="727417"/>
            <a:ext cx="4378779" cy="3797482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0DED449-9B50-6210-18DC-12CC6035F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921" y="962262"/>
            <a:ext cx="3950155" cy="2783443"/>
          </a:xfrm>
          <a:prstGeom prst="round2DiagRect">
            <a:avLst>
              <a:gd name="adj1" fmla="val 16667"/>
              <a:gd name="adj2" fmla="val 922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7BBBBD-D7A1-A3CF-5CAC-8B07F2B42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0251" y="4166786"/>
            <a:ext cx="3701141" cy="144728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2">
                <a:lumMod val="50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242489-83A3-4139-391E-8825E46645A1}"/>
              </a:ext>
            </a:extLst>
          </p:cNvPr>
          <p:cNvSpPr txBox="1"/>
          <p:nvPr/>
        </p:nvSpPr>
        <p:spPr>
          <a:xfrm>
            <a:off x="2239190" y="6073468"/>
            <a:ext cx="9194077" cy="369332"/>
          </a:xfrm>
          <a:prstGeom prst="rect">
            <a:avLst/>
          </a:prstGeom>
          <a:noFill/>
          <a:ln w="19050">
            <a:solidFill>
              <a:schemeClr val="bg2">
                <a:lumMod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Delhi is the most active city in terms of hospital visits, with a total of 6 appointments.</a:t>
            </a:r>
          </a:p>
        </p:txBody>
      </p:sp>
    </p:spTree>
    <p:extLst>
      <p:ext uri="{BB962C8B-B14F-4D97-AF65-F5344CB8AC3E}">
        <p14:creationId xmlns:p14="http://schemas.microsoft.com/office/powerpoint/2010/main" val="201273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8DE4B-4BFA-AAB2-26DC-809CE763C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EBA5DA70-77C1-43DD-AD1A-3EC25464D7D5}"/>
              </a:ext>
            </a:extLst>
          </p:cNvPr>
          <p:cNvSpPr/>
          <p:nvPr/>
        </p:nvSpPr>
        <p:spPr>
          <a:xfrm>
            <a:off x="582499" y="353599"/>
            <a:ext cx="6406130" cy="2560686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Find the department that has the highest number of appointments where the consultation fee is less than ₹500.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BE6B82E-080C-07C6-CF9A-851652D7C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8B9A98CF-3294-FAC6-54D7-E325333D96FE}"/>
              </a:ext>
            </a:extLst>
          </p:cNvPr>
          <p:cNvSpPr/>
          <p:nvPr/>
        </p:nvSpPr>
        <p:spPr>
          <a:xfrm flipV="1">
            <a:off x="820959" y="4732102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23173BC-0CF0-AE17-CFC2-94833F3D93E8}"/>
              </a:ext>
            </a:extLst>
          </p:cNvPr>
          <p:cNvSpPr/>
          <p:nvPr/>
        </p:nvSpPr>
        <p:spPr>
          <a:xfrm flipV="1">
            <a:off x="1489672" y="3150886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CEE65CD-1A8A-51A2-1C57-F74403922A14}"/>
              </a:ext>
            </a:extLst>
          </p:cNvPr>
          <p:cNvSpPr/>
          <p:nvPr/>
        </p:nvSpPr>
        <p:spPr>
          <a:xfrm flipV="1">
            <a:off x="1144810" y="3939514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6969DB1B-A568-EFC8-4CFE-33998F3310D2}"/>
              </a:ext>
            </a:extLst>
          </p:cNvPr>
          <p:cNvSpPr/>
          <p:nvPr/>
        </p:nvSpPr>
        <p:spPr>
          <a:xfrm>
            <a:off x="7585223" y="754381"/>
            <a:ext cx="4384800" cy="3851336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36B621-DFBA-7236-E540-68F8FEEEF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66" y="1126903"/>
            <a:ext cx="3839714" cy="269748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85C0B4-FCA0-2026-975E-A62E68202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593" y="3765053"/>
            <a:ext cx="4794087" cy="168132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>
                <a:lumMod val="85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perspective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9E1853-A922-97EA-29F2-A920C0B653FA}"/>
              </a:ext>
            </a:extLst>
          </p:cNvPr>
          <p:cNvSpPr txBox="1"/>
          <p:nvPr/>
        </p:nvSpPr>
        <p:spPr>
          <a:xfrm>
            <a:off x="1931670" y="5822803"/>
            <a:ext cx="9947365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just"/>
            <a:r>
              <a:rPr lang="en-IN" sz="1800" dirty="0"/>
              <a:t>The General department recorded 8 appointments with consultation fees below ₹500, making it the department with the highest number of low-cost consultations.</a:t>
            </a:r>
          </a:p>
        </p:txBody>
      </p:sp>
    </p:spTree>
    <p:extLst>
      <p:ext uri="{BB962C8B-B14F-4D97-AF65-F5344CB8AC3E}">
        <p14:creationId xmlns:p14="http://schemas.microsoft.com/office/powerpoint/2010/main" val="2665827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75A4B-7BDD-A6F5-E305-0D7DBB307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F330363E-F760-35D0-F776-32E1D25F0840}"/>
              </a:ext>
            </a:extLst>
          </p:cNvPr>
          <p:cNvSpPr/>
          <p:nvPr/>
        </p:nvSpPr>
        <p:spPr>
          <a:xfrm>
            <a:off x="694210" y="160987"/>
            <a:ext cx="6414161" cy="2677578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assign ROW_NUMBER(), RANK(), and DENSE_RANK() based on the consultation fee in the appointments table.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A227A0F-C8E1-64D7-4C39-32BDD4BBE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F53D2377-110E-CC29-5EFB-EAB00AF5658B}"/>
              </a:ext>
            </a:extLst>
          </p:cNvPr>
          <p:cNvSpPr/>
          <p:nvPr/>
        </p:nvSpPr>
        <p:spPr>
          <a:xfrm flipV="1">
            <a:off x="694210" y="4774916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93C8F1D-2A5B-702A-FD15-2EB517578EC9}"/>
              </a:ext>
            </a:extLst>
          </p:cNvPr>
          <p:cNvSpPr/>
          <p:nvPr/>
        </p:nvSpPr>
        <p:spPr>
          <a:xfrm flipV="1">
            <a:off x="1377044" y="3172940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2EA4684-ECEA-E8A5-04A6-6F001B49972E}"/>
              </a:ext>
            </a:extLst>
          </p:cNvPr>
          <p:cNvSpPr/>
          <p:nvPr/>
        </p:nvSpPr>
        <p:spPr>
          <a:xfrm flipV="1">
            <a:off x="999370" y="4001688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7572D134-FD77-42CD-E339-240F6FAB8BE3}"/>
              </a:ext>
            </a:extLst>
          </p:cNvPr>
          <p:cNvSpPr/>
          <p:nvPr/>
        </p:nvSpPr>
        <p:spPr>
          <a:xfrm>
            <a:off x="7665395" y="213250"/>
            <a:ext cx="4195536" cy="4267310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BE4E21-E025-AE40-B87D-18395B745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679" y="485850"/>
            <a:ext cx="3686968" cy="351583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AD8C69-89DB-5897-94D6-0A22213C8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146" y="3131094"/>
            <a:ext cx="4504928" cy="263047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685427-5AEF-D551-C059-76F33C2C9707}"/>
              </a:ext>
            </a:extLst>
          </p:cNvPr>
          <p:cNvSpPr txBox="1"/>
          <p:nvPr/>
        </p:nvSpPr>
        <p:spPr>
          <a:xfrm>
            <a:off x="1807029" y="5998419"/>
            <a:ext cx="9568542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ROW_NUMBER() </a:t>
            </a:r>
            <a:r>
              <a:rPr lang="en-IN" dirty="0"/>
              <a:t>gives unique positions, </a:t>
            </a:r>
            <a:r>
              <a:rPr lang="en-IN" dirty="0">
                <a:solidFill>
                  <a:schemeClr val="accent1"/>
                </a:solidFill>
              </a:rPr>
              <a:t>RANK() </a:t>
            </a:r>
            <a:r>
              <a:rPr lang="en-IN" dirty="0"/>
              <a:t>allows ties with gaps, and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DENSE_RANK() </a:t>
            </a:r>
            <a:r>
              <a:rPr lang="en-IN" dirty="0"/>
              <a:t>allows ties without gaps, making them useful for different ranking scenarios.</a:t>
            </a:r>
          </a:p>
        </p:txBody>
      </p:sp>
    </p:spTree>
    <p:extLst>
      <p:ext uri="{BB962C8B-B14F-4D97-AF65-F5344CB8AC3E}">
        <p14:creationId xmlns:p14="http://schemas.microsoft.com/office/powerpoint/2010/main" val="492748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B7B11-DEDD-3D05-9F6C-2E2027FA1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C370AB73-06F4-7C08-0635-41BE4E4DC54E}"/>
              </a:ext>
            </a:extLst>
          </p:cNvPr>
          <p:cNvSpPr/>
          <p:nvPr/>
        </p:nvSpPr>
        <p:spPr>
          <a:xfrm>
            <a:off x="413657" y="180728"/>
            <a:ext cx="6411686" cy="2467433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show the number of appointments in each month for every department.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97A4626-9935-0D25-6B08-E5E813313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54295571-66FA-4B35-1409-ADDDC365677C}"/>
              </a:ext>
            </a:extLst>
          </p:cNvPr>
          <p:cNvSpPr/>
          <p:nvPr/>
        </p:nvSpPr>
        <p:spPr>
          <a:xfrm flipV="1">
            <a:off x="744625" y="4922131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4CAFD50-6AFA-39BF-3D1E-BE032C005EF0}"/>
              </a:ext>
            </a:extLst>
          </p:cNvPr>
          <p:cNvSpPr/>
          <p:nvPr/>
        </p:nvSpPr>
        <p:spPr>
          <a:xfrm flipV="1">
            <a:off x="1432076" y="3133768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4BDACBB-5BD9-F18D-11F6-8DDDDA3DF121}"/>
              </a:ext>
            </a:extLst>
          </p:cNvPr>
          <p:cNvSpPr/>
          <p:nvPr/>
        </p:nvSpPr>
        <p:spPr>
          <a:xfrm flipV="1">
            <a:off x="1096006" y="4049208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C6087BE7-E0DE-F0AF-A058-3D2FAE58C16D}"/>
              </a:ext>
            </a:extLst>
          </p:cNvPr>
          <p:cNvSpPr/>
          <p:nvPr/>
        </p:nvSpPr>
        <p:spPr>
          <a:xfrm>
            <a:off x="8378190" y="207372"/>
            <a:ext cx="3574325" cy="4170318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C532DE-E0D1-DC51-BD1A-DE945B457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457760"/>
            <a:ext cx="3141813" cy="330271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60C989-739A-3E05-6DB9-5D13DF382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408" y="2900384"/>
            <a:ext cx="2603042" cy="288471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B2A22A-FB5F-369A-06CA-C9D7193CDC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3850" y="2815854"/>
            <a:ext cx="2458135" cy="296924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D2F5B3-067B-CCE5-BE8B-56F744132C75}"/>
              </a:ext>
            </a:extLst>
          </p:cNvPr>
          <p:cNvSpPr txBox="1"/>
          <p:nvPr/>
        </p:nvSpPr>
        <p:spPr>
          <a:xfrm>
            <a:off x="1985612" y="6030941"/>
            <a:ext cx="9570117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result provides a monthly breakdown of appointments for each department, helping identify departments with higher patient activity.</a:t>
            </a:r>
          </a:p>
        </p:txBody>
      </p:sp>
    </p:spTree>
    <p:extLst>
      <p:ext uri="{BB962C8B-B14F-4D97-AF65-F5344CB8AC3E}">
        <p14:creationId xmlns:p14="http://schemas.microsoft.com/office/powerpoint/2010/main" val="145466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75186-A56A-62CF-F1AA-BB18D766C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7A13CB34-58BA-D4DA-6706-CFD35C4E1EB4}"/>
              </a:ext>
            </a:extLst>
          </p:cNvPr>
          <p:cNvSpPr/>
          <p:nvPr/>
        </p:nvSpPr>
        <p:spPr>
          <a:xfrm>
            <a:off x="574854" y="70252"/>
            <a:ext cx="7026096" cy="3726179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the total, average, maximum, minimum consultation fee, and total appointments for each doctor in each department. Display the result in descending order of total appointments.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52BE569-829C-A4F8-E2A1-F2E30B004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565B1AAD-4D53-CB89-D3BB-BA924989F9C0}"/>
              </a:ext>
            </a:extLst>
          </p:cNvPr>
          <p:cNvSpPr/>
          <p:nvPr/>
        </p:nvSpPr>
        <p:spPr>
          <a:xfrm flipV="1">
            <a:off x="1045029" y="4924658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021E875-BBB2-391C-9560-DA8B3855C8DF}"/>
              </a:ext>
            </a:extLst>
          </p:cNvPr>
          <p:cNvSpPr/>
          <p:nvPr/>
        </p:nvSpPr>
        <p:spPr>
          <a:xfrm flipV="1">
            <a:off x="1728108" y="3814463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A8EEF78-BF16-8C04-5D84-4C5ED209D421}"/>
              </a:ext>
            </a:extLst>
          </p:cNvPr>
          <p:cNvSpPr/>
          <p:nvPr/>
        </p:nvSpPr>
        <p:spPr>
          <a:xfrm flipV="1">
            <a:off x="1409702" y="4347626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A391915C-4223-7D57-2CBD-6ACC3A713030}"/>
              </a:ext>
            </a:extLst>
          </p:cNvPr>
          <p:cNvSpPr/>
          <p:nvPr/>
        </p:nvSpPr>
        <p:spPr>
          <a:xfrm>
            <a:off x="7795261" y="1402733"/>
            <a:ext cx="3744034" cy="4577115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617DEB-7B02-C217-41C3-087306E6B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275" y="1704830"/>
            <a:ext cx="3258006" cy="372618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5224FBC-A6EA-C02C-D4F5-A076A13F08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201400" y="5840730"/>
            <a:ext cx="990600" cy="101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66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7FB0-9DB0-9AB1-EFEC-557D47BCE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03CA28B7-4A83-5503-53F6-EB3AE2EC95CC}"/>
              </a:ext>
            </a:extLst>
          </p:cNvPr>
          <p:cNvSpPr/>
          <p:nvPr/>
        </p:nvSpPr>
        <p:spPr>
          <a:xfrm flipH="1">
            <a:off x="588858" y="446145"/>
            <a:ext cx="10971770" cy="5900226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tx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CD058A-64C9-1542-2036-BC5ACDE0C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0" y="5864109"/>
            <a:ext cx="805544" cy="9938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AB84883-E538-EEE5-EBD6-D8AC96951E3D}"/>
              </a:ext>
            </a:extLst>
          </p:cNvPr>
          <p:cNvSpPr txBox="1"/>
          <p:nvPr/>
        </p:nvSpPr>
        <p:spPr>
          <a:xfrm>
            <a:off x="748480" y="688310"/>
            <a:ext cx="67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E3A79E-35D2-3242-A98D-B938CBC86991}"/>
              </a:ext>
            </a:extLst>
          </p:cNvPr>
          <p:cNvSpPr/>
          <p:nvPr/>
        </p:nvSpPr>
        <p:spPr>
          <a:xfrm>
            <a:off x="6420051" y="2009273"/>
            <a:ext cx="356134" cy="32625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B47896-B7C1-10D8-59DE-EC0DE90D9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44" y="1366726"/>
            <a:ext cx="2690376" cy="345974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3C1D88-E52E-FC3E-9BDB-52D828316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298" y="1323488"/>
            <a:ext cx="2847989" cy="345974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4C1884-7E3C-9DC3-023D-AB5565240B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7450" y="1323488"/>
            <a:ext cx="4031790" cy="154326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FA5625-8487-190B-B362-F11D1F23BD2D}"/>
              </a:ext>
            </a:extLst>
          </p:cNvPr>
          <p:cNvSpPr txBox="1"/>
          <p:nvPr/>
        </p:nvSpPr>
        <p:spPr>
          <a:xfrm>
            <a:off x="1774371" y="5182103"/>
            <a:ext cx="9598479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query helps identify the busiest doctors and compare their consultation fee details across different departments.</a:t>
            </a:r>
          </a:p>
        </p:txBody>
      </p:sp>
    </p:spTree>
    <p:extLst>
      <p:ext uri="{BB962C8B-B14F-4D97-AF65-F5344CB8AC3E}">
        <p14:creationId xmlns:p14="http://schemas.microsoft.com/office/powerpoint/2010/main" val="326587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048CA-2098-2515-1108-48151C8B4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511E9560-CCB1-F06C-63D3-27723A42282B}"/>
              </a:ext>
            </a:extLst>
          </p:cNvPr>
          <p:cNvSpPr/>
          <p:nvPr/>
        </p:nvSpPr>
        <p:spPr>
          <a:xfrm>
            <a:off x="842172" y="318489"/>
            <a:ext cx="6888196" cy="2641681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the 2nd and 4th highest consultation fees in each department from the appointments table.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D6D5A00-39B6-1E0E-E4B2-304ED6B0F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8BD53365-4C86-EF8B-AE42-8994DFB80C3C}"/>
              </a:ext>
            </a:extLst>
          </p:cNvPr>
          <p:cNvSpPr/>
          <p:nvPr/>
        </p:nvSpPr>
        <p:spPr>
          <a:xfrm flipV="1">
            <a:off x="842171" y="4824204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94E440B-4351-0D38-1624-25970DA0E62B}"/>
              </a:ext>
            </a:extLst>
          </p:cNvPr>
          <p:cNvSpPr/>
          <p:nvPr/>
        </p:nvSpPr>
        <p:spPr>
          <a:xfrm flipV="1">
            <a:off x="1487406" y="2960170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5BE774-03EE-4C9F-C8F9-763E3BD1CEDD}"/>
              </a:ext>
            </a:extLst>
          </p:cNvPr>
          <p:cNvSpPr/>
          <p:nvPr/>
        </p:nvSpPr>
        <p:spPr>
          <a:xfrm flipV="1">
            <a:off x="1123914" y="3897830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F301B00B-AD18-8F01-9AEB-05C7577CEF6A}"/>
              </a:ext>
            </a:extLst>
          </p:cNvPr>
          <p:cNvSpPr/>
          <p:nvPr/>
        </p:nvSpPr>
        <p:spPr>
          <a:xfrm>
            <a:off x="8153232" y="674370"/>
            <a:ext cx="3725803" cy="4061077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7E922F-29ED-DACB-0235-01FA212EF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982979"/>
            <a:ext cx="3192204" cy="312385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A32789-4605-545B-B7B3-49F28A143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6057" y="3148138"/>
            <a:ext cx="2242755" cy="339137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286366-162F-E5D0-A22E-C8ABA591F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942" y="3538150"/>
            <a:ext cx="2242755" cy="128605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4C335B-9949-2195-62D3-C723578F3EBE}"/>
              </a:ext>
            </a:extLst>
          </p:cNvPr>
          <p:cNvSpPr txBox="1"/>
          <p:nvPr/>
        </p:nvSpPr>
        <p:spPr>
          <a:xfrm>
            <a:off x="5084779" y="5861271"/>
            <a:ext cx="6794256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It helps identify important consultation fee levels by ranking fees within each department.</a:t>
            </a:r>
          </a:p>
        </p:txBody>
      </p:sp>
    </p:spTree>
    <p:extLst>
      <p:ext uri="{BB962C8B-B14F-4D97-AF65-F5344CB8AC3E}">
        <p14:creationId xmlns:p14="http://schemas.microsoft.com/office/powerpoint/2010/main" val="3421362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A452C-8938-B4BC-5C22-48525998E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CD4505FA-F343-66DA-0039-BB46444C18D1}"/>
              </a:ext>
            </a:extLst>
          </p:cNvPr>
          <p:cNvSpPr/>
          <p:nvPr/>
        </p:nvSpPr>
        <p:spPr>
          <a:xfrm>
            <a:off x="699047" y="210087"/>
            <a:ext cx="6765471" cy="3044911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all female patients from each city who were born in the year 1991.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2F73317-F97D-D2C6-F8DE-5EF52C531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0B68D5DB-F5E1-5BD1-0A40-96D09F0CEFE5}"/>
              </a:ext>
            </a:extLst>
          </p:cNvPr>
          <p:cNvSpPr/>
          <p:nvPr/>
        </p:nvSpPr>
        <p:spPr>
          <a:xfrm flipV="1">
            <a:off x="895665" y="4843589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EEE3204-720B-553A-36FB-777D0E739460}"/>
              </a:ext>
            </a:extLst>
          </p:cNvPr>
          <p:cNvSpPr/>
          <p:nvPr/>
        </p:nvSpPr>
        <p:spPr>
          <a:xfrm flipV="1">
            <a:off x="1600198" y="3254998"/>
            <a:ext cx="702127" cy="30100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8919574-3F72-9B47-C19B-3C298AA6720D}"/>
              </a:ext>
            </a:extLst>
          </p:cNvPr>
          <p:cNvSpPr/>
          <p:nvPr/>
        </p:nvSpPr>
        <p:spPr>
          <a:xfrm flipV="1">
            <a:off x="1251857" y="4108180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FAFC4ED5-82BC-15C3-458D-872E7BA65DB9}"/>
              </a:ext>
            </a:extLst>
          </p:cNvPr>
          <p:cNvSpPr/>
          <p:nvPr/>
        </p:nvSpPr>
        <p:spPr>
          <a:xfrm>
            <a:off x="7625203" y="758100"/>
            <a:ext cx="4330699" cy="3797482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36F16E-0B25-2F6E-8B9D-B6E9081E4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572" y="996386"/>
            <a:ext cx="3687960" cy="291394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43E794-6B9A-4E64-6498-EB91B0679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0112" y="4212681"/>
            <a:ext cx="4071257" cy="90351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7030-0B90-EEAD-9CBE-194BF7E5FDC4}"/>
              </a:ext>
            </a:extLst>
          </p:cNvPr>
          <p:cNvSpPr txBox="1"/>
          <p:nvPr/>
        </p:nvSpPr>
        <p:spPr>
          <a:xfrm>
            <a:off x="1951261" y="5842802"/>
            <a:ext cx="9578340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provides a city-wise list of female patients born in 1991, making it easy to analyze patient records based on gender and birth year.</a:t>
            </a:r>
          </a:p>
        </p:txBody>
      </p:sp>
    </p:spTree>
    <p:extLst>
      <p:ext uri="{BB962C8B-B14F-4D97-AF65-F5344CB8AC3E}">
        <p14:creationId xmlns:p14="http://schemas.microsoft.com/office/powerpoint/2010/main" val="2144690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23F2D-E0D1-C221-547E-746D62843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455A51E1-754A-D055-C118-B63ACFB4DC32}"/>
              </a:ext>
            </a:extLst>
          </p:cNvPr>
          <p:cNvSpPr/>
          <p:nvPr/>
        </p:nvSpPr>
        <p:spPr>
          <a:xfrm>
            <a:off x="312963" y="168272"/>
            <a:ext cx="6705958" cy="2490148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the longest gap (in days) between two consecutive appointments for each patient.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A6DE712-975A-DCD1-FA9A-C195A8F0A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269C41CC-3D22-FBDC-8E76-22A3812E3F04}"/>
              </a:ext>
            </a:extLst>
          </p:cNvPr>
          <p:cNvSpPr/>
          <p:nvPr/>
        </p:nvSpPr>
        <p:spPr>
          <a:xfrm flipV="1">
            <a:off x="897025" y="4544725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1BCA36F-F92B-41DC-90DE-1D2AD7A7FDCE}"/>
              </a:ext>
            </a:extLst>
          </p:cNvPr>
          <p:cNvSpPr/>
          <p:nvPr/>
        </p:nvSpPr>
        <p:spPr>
          <a:xfrm flipV="1">
            <a:off x="1313973" y="2881764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2E49997-DADF-8964-B9CB-AFA3C485B9CE}"/>
              </a:ext>
            </a:extLst>
          </p:cNvPr>
          <p:cNvSpPr/>
          <p:nvPr/>
        </p:nvSpPr>
        <p:spPr>
          <a:xfrm flipV="1">
            <a:off x="1079931" y="3712447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F8B1E7EE-63BF-0984-5101-B4EC82823047}"/>
              </a:ext>
            </a:extLst>
          </p:cNvPr>
          <p:cNvSpPr/>
          <p:nvPr/>
        </p:nvSpPr>
        <p:spPr>
          <a:xfrm>
            <a:off x="7500257" y="415200"/>
            <a:ext cx="4378780" cy="2888070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4AA4DF-A206-6644-7BAB-F2DEDDDAF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3761" y="749752"/>
            <a:ext cx="3831771" cy="213201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C96A48-24B3-3AED-EA8D-D3669C8A9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9167" y="3020649"/>
            <a:ext cx="1934246" cy="271420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CFA75E-553E-6AD4-F959-9E581C3AD1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6480" y="2710544"/>
            <a:ext cx="1862441" cy="302430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E7B7DC-2077-9957-AD50-51B9DD023D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1988" y="3712447"/>
            <a:ext cx="1746876" cy="196242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005DAF-2906-7025-C9FA-F7B8182A1CC0}"/>
              </a:ext>
            </a:extLst>
          </p:cNvPr>
          <p:cNvSpPr txBox="1"/>
          <p:nvPr/>
        </p:nvSpPr>
        <p:spPr>
          <a:xfrm>
            <a:off x="1885950" y="6097081"/>
            <a:ext cx="9993087" cy="646331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identifies the maximum number of days between consecutive appointments for each patient, helping track the time interval between patient visits.</a:t>
            </a:r>
          </a:p>
        </p:txBody>
      </p:sp>
    </p:spTree>
    <p:extLst>
      <p:ext uri="{BB962C8B-B14F-4D97-AF65-F5344CB8AC3E}">
        <p14:creationId xmlns:p14="http://schemas.microsoft.com/office/powerpoint/2010/main" val="293038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8DD76-79AE-1D77-9A96-9D99EC388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4E417978-C465-4F02-1C8B-1F94BB609FB3}"/>
              </a:ext>
            </a:extLst>
          </p:cNvPr>
          <p:cNvSpPr/>
          <p:nvPr/>
        </p:nvSpPr>
        <p:spPr>
          <a:xfrm>
            <a:off x="891179" y="273328"/>
            <a:ext cx="6388281" cy="2293627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patients whose age is between 20 and 30 years.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FAC4222-2F4A-3D7E-70F7-E034FEBC0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F1EDA3D3-22DF-74E1-F8C2-A7FC8A1763CD}"/>
              </a:ext>
            </a:extLst>
          </p:cNvPr>
          <p:cNvSpPr/>
          <p:nvPr/>
        </p:nvSpPr>
        <p:spPr>
          <a:xfrm flipV="1">
            <a:off x="1069520" y="4726189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3F321FE-D0F7-1174-F9D4-F34DC896979C}"/>
              </a:ext>
            </a:extLst>
          </p:cNvPr>
          <p:cNvSpPr/>
          <p:nvPr/>
        </p:nvSpPr>
        <p:spPr>
          <a:xfrm flipV="1">
            <a:off x="1728108" y="2891963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7B41510-7652-E48B-33EA-34527C78B8A7}"/>
              </a:ext>
            </a:extLst>
          </p:cNvPr>
          <p:cNvSpPr/>
          <p:nvPr/>
        </p:nvSpPr>
        <p:spPr>
          <a:xfrm flipV="1">
            <a:off x="1405618" y="3806502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CA34EC61-7A63-E54E-254A-BB9CC366F1FF}"/>
              </a:ext>
            </a:extLst>
          </p:cNvPr>
          <p:cNvSpPr/>
          <p:nvPr/>
        </p:nvSpPr>
        <p:spPr>
          <a:xfrm>
            <a:off x="7542986" y="803732"/>
            <a:ext cx="4195536" cy="3550554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ED7CA4-5F51-9E8D-EFF4-DB0DAA815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6512" y="1082544"/>
            <a:ext cx="3668484" cy="262258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5A2184-EBA7-D65D-1007-A9FE1A837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096" y="3036113"/>
            <a:ext cx="3191829" cy="263634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B50135-F04A-2A3D-A6C1-159F2A5D64C2}"/>
              </a:ext>
            </a:extLst>
          </p:cNvPr>
          <p:cNvSpPr txBox="1"/>
          <p:nvPr/>
        </p:nvSpPr>
        <p:spPr>
          <a:xfrm>
            <a:off x="1908722" y="6013212"/>
            <a:ext cx="9704070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retrieves all patients aged between 20 and 30 years, making it easier to analyze patients within a specific age group.</a:t>
            </a:r>
          </a:p>
        </p:txBody>
      </p:sp>
    </p:spTree>
    <p:extLst>
      <p:ext uri="{BB962C8B-B14F-4D97-AF65-F5344CB8AC3E}">
        <p14:creationId xmlns:p14="http://schemas.microsoft.com/office/powerpoint/2010/main" val="139653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89EE6-B908-B256-5CCB-2325FF7D4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F570E293-A035-76DC-4DD3-54E369352C9E}"/>
              </a:ext>
            </a:extLst>
          </p:cNvPr>
          <p:cNvSpPr/>
          <p:nvPr/>
        </p:nvSpPr>
        <p:spPr>
          <a:xfrm>
            <a:off x="664029" y="210087"/>
            <a:ext cx="6285411" cy="2054142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the youngest patient in each city using a subquery.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F55B83A-3230-CDEC-8281-37A4D8129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8FEC6AFF-5DBE-E0C5-4E21-C3F86919EA2F}"/>
              </a:ext>
            </a:extLst>
          </p:cNvPr>
          <p:cNvSpPr/>
          <p:nvPr/>
        </p:nvSpPr>
        <p:spPr>
          <a:xfrm flipV="1">
            <a:off x="783773" y="4513487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1A667D4-9D12-DDC1-9FB8-D2F9B6A05D30}"/>
              </a:ext>
            </a:extLst>
          </p:cNvPr>
          <p:cNvSpPr/>
          <p:nvPr/>
        </p:nvSpPr>
        <p:spPr>
          <a:xfrm flipV="1">
            <a:off x="1413782" y="2478049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C278509-B9E9-8FC5-46CC-10AAA360E7C7}"/>
              </a:ext>
            </a:extLst>
          </p:cNvPr>
          <p:cNvSpPr/>
          <p:nvPr/>
        </p:nvSpPr>
        <p:spPr>
          <a:xfrm flipV="1">
            <a:off x="1107624" y="3499565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F7BFF08E-AE24-2A0C-E3AA-71694852A1B0}"/>
              </a:ext>
            </a:extLst>
          </p:cNvPr>
          <p:cNvSpPr/>
          <p:nvPr/>
        </p:nvSpPr>
        <p:spPr>
          <a:xfrm>
            <a:off x="7622267" y="807730"/>
            <a:ext cx="4195536" cy="3550554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4E7D1A-54E7-4A3A-53CA-5BB256BA3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683" y="1150899"/>
            <a:ext cx="3615871" cy="26543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D460F9-9400-A3E9-ABDE-30E22B45A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8183" y="2648231"/>
            <a:ext cx="2163104" cy="301760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348469-A7F6-61F7-E8DC-A6393B709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0885" y="2646868"/>
            <a:ext cx="2353581" cy="301760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E96AAE-46ED-4473-0391-58AA54C0DE9A}"/>
              </a:ext>
            </a:extLst>
          </p:cNvPr>
          <p:cNvSpPr txBox="1"/>
          <p:nvPr/>
        </p:nvSpPr>
        <p:spPr>
          <a:xfrm flipH="1">
            <a:off x="1961695" y="5973996"/>
            <a:ext cx="9731194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uses a subquery to identify the youngest patient in each city by selecting the latest date of birth.</a:t>
            </a:r>
          </a:p>
        </p:txBody>
      </p:sp>
    </p:spTree>
    <p:extLst>
      <p:ext uri="{BB962C8B-B14F-4D97-AF65-F5344CB8AC3E}">
        <p14:creationId xmlns:p14="http://schemas.microsoft.com/office/powerpoint/2010/main" val="383985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7353A-38F9-7235-319D-AA75A9E63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923A19C4-27D1-6C65-CB5C-5B73B8360763}"/>
              </a:ext>
            </a:extLst>
          </p:cNvPr>
          <p:cNvSpPr/>
          <p:nvPr/>
        </p:nvSpPr>
        <p:spPr>
          <a:xfrm>
            <a:off x="358400" y="123089"/>
            <a:ext cx="7005621" cy="3063085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Create views to simplify data retrieval by displaying all patient records, General department patient details, doctor-wise total consultation fee, average consultation fee by appointment date.</a:t>
            </a:r>
            <a:endPara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0E83832-3BC5-4ED8-EFDF-C389AC7D4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361275CD-1622-C879-7FE1-086C90827F75}"/>
              </a:ext>
            </a:extLst>
          </p:cNvPr>
          <p:cNvSpPr/>
          <p:nvPr/>
        </p:nvSpPr>
        <p:spPr>
          <a:xfrm flipV="1">
            <a:off x="744625" y="4770453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3AE9F90-0C8A-B967-58E7-3E474A58A342}"/>
              </a:ext>
            </a:extLst>
          </p:cNvPr>
          <p:cNvSpPr/>
          <p:nvPr/>
        </p:nvSpPr>
        <p:spPr>
          <a:xfrm flipV="1">
            <a:off x="1302518" y="3131638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3A5B29F-3EDF-8AB7-5A4C-E5BFC394D400}"/>
              </a:ext>
            </a:extLst>
          </p:cNvPr>
          <p:cNvSpPr/>
          <p:nvPr/>
        </p:nvSpPr>
        <p:spPr>
          <a:xfrm flipV="1">
            <a:off x="1068476" y="3978264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3A144061-30B7-313E-9AED-DCB83F6D93B2}"/>
              </a:ext>
            </a:extLst>
          </p:cNvPr>
          <p:cNvSpPr/>
          <p:nvPr/>
        </p:nvSpPr>
        <p:spPr>
          <a:xfrm>
            <a:off x="7638064" y="763844"/>
            <a:ext cx="4195536" cy="3539601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VVVV</a:t>
            </a:r>
            <a:endParaRPr lang="en-IN" dirty="0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5A7F4E36-3684-9704-70D7-DEC70DD66686}"/>
              </a:ext>
            </a:extLst>
          </p:cNvPr>
          <p:cNvSpPr/>
          <p:nvPr/>
        </p:nvSpPr>
        <p:spPr>
          <a:xfrm>
            <a:off x="2355707" y="4808615"/>
            <a:ext cx="3080662" cy="1808525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51AFFCD6-7D45-FC08-73F8-C376D466417C}"/>
              </a:ext>
            </a:extLst>
          </p:cNvPr>
          <p:cNvSpPr/>
          <p:nvPr/>
        </p:nvSpPr>
        <p:spPr>
          <a:xfrm>
            <a:off x="7063740" y="4817522"/>
            <a:ext cx="3360010" cy="1790709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18F5BA-849D-F0F7-7D8C-124D34E8B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800" y="5189146"/>
            <a:ext cx="2572959" cy="99742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FB0D29-36D6-945D-FD2B-50FD2FC3D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420" y="5132405"/>
            <a:ext cx="2914649" cy="111090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9AA0823-ED95-8E62-9476-C7A9186E0D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2106" y="1143000"/>
            <a:ext cx="3647452" cy="261165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D66B9DC8-6944-167D-FD1A-413C45C59686}"/>
              </a:ext>
            </a:extLst>
          </p:cNvPr>
          <p:cNvSpPr/>
          <p:nvPr/>
        </p:nvSpPr>
        <p:spPr>
          <a:xfrm>
            <a:off x="4936577" y="3145341"/>
            <a:ext cx="2233401" cy="1503559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F7C2E3-5161-D75C-42A9-41E487676C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8759" y="3431489"/>
            <a:ext cx="1834301" cy="87195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461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 animBg="1"/>
      <p:bldP spid="7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D32EC-F369-6D77-B2EC-A1E38B4BC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531EF744-CE5B-774E-16A5-22CEB9FB29BF}"/>
              </a:ext>
            </a:extLst>
          </p:cNvPr>
          <p:cNvSpPr/>
          <p:nvPr/>
        </p:nvSpPr>
        <p:spPr>
          <a:xfrm flipH="1">
            <a:off x="537211" y="411480"/>
            <a:ext cx="10945584" cy="6000749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tx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BE507D-E0F2-4350-1939-1BAE7F82B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" y="5834369"/>
            <a:ext cx="805544" cy="9938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5525032-5E51-CC08-724B-E61926D7F56F}"/>
              </a:ext>
            </a:extLst>
          </p:cNvPr>
          <p:cNvSpPr txBox="1"/>
          <p:nvPr/>
        </p:nvSpPr>
        <p:spPr>
          <a:xfrm>
            <a:off x="793025" y="574122"/>
            <a:ext cx="7610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6108D2-3C3C-02FA-6807-FFF66B570D51}"/>
              </a:ext>
            </a:extLst>
          </p:cNvPr>
          <p:cNvSpPr/>
          <p:nvPr/>
        </p:nvSpPr>
        <p:spPr>
          <a:xfrm>
            <a:off x="6420051" y="2009273"/>
            <a:ext cx="356134" cy="32625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FE9216-A267-42D0-7D45-12378B8F9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653" y="1127488"/>
            <a:ext cx="5600700" cy="151594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384F29-0692-A847-AD87-16DDAD835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042" y="3099401"/>
            <a:ext cx="2867009" cy="29292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8E28F9-FE84-EFC4-491C-24F5223A15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3291" y="3099401"/>
            <a:ext cx="2523088" cy="29292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08F5803-83BF-A57E-DFEF-D86801C659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8872" y="3099401"/>
            <a:ext cx="2683212" cy="292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4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D7C0-38B7-9833-25E4-13E19CB13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C8D89625-7A82-0210-6441-BD6724FD5350}"/>
              </a:ext>
            </a:extLst>
          </p:cNvPr>
          <p:cNvSpPr/>
          <p:nvPr/>
        </p:nvSpPr>
        <p:spPr>
          <a:xfrm flipH="1">
            <a:off x="610630" y="540063"/>
            <a:ext cx="10776857" cy="5584372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tx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2B0AD5-B324-2673-E6A3-6527E9572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" y="5834369"/>
            <a:ext cx="805544" cy="9938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C5505A7-22CB-6B79-259B-A9CC6B83F8C8}"/>
              </a:ext>
            </a:extLst>
          </p:cNvPr>
          <p:cNvSpPr txBox="1"/>
          <p:nvPr/>
        </p:nvSpPr>
        <p:spPr>
          <a:xfrm>
            <a:off x="804513" y="876886"/>
            <a:ext cx="7343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A7D5D7-6132-5A85-E768-09A19F455282}"/>
              </a:ext>
            </a:extLst>
          </p:cNvPr>
          <p:cNvSpPr/>
          <p:nvPr/>
        </p:nvSpPr>
        <p:spPr>
          <a:xfrm>
            <a:off x="6420051" y="2009273"/>
            <a:ext cx="356134" cy="32625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2D6A40-D519-D397-E4A9-8DCFED7A8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023" y="1842321"/>
            <a:ext cx="2534004" cy="34294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54AF52-2C47-34D6-49B6-A49EFA8DC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513" y="1819546"/>
            <a:ext cx="2722974" cy="34271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51015F-8468-7AD5-89F5-246006BB6C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557" y="1870900"/>
            <a:ext cx="2667372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78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DC35C-040F-8B25-DF61-EDC8386FD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488E5070-D2AC-0606-B342-7FDA89380995}"/>
              </a:ext>
            </a:extLst>
          </p:cNvPr>
          <p:cNvSpPr/>
          <p:nvPr/>
        </p:nvSpPr>
        <p:spPr>
          <a:xfrm>
            <a:off x="713014" y="296839"/>
            <a:ext cx="6695280" cy="2591514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the total number of distinct cities in the patient table</a:t>
            </a:r>
            <a:r>
              <a:rPr lang="en-IN" sz="2400" b="1" dirty="0"/>
              <a:t>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1C9ED36-2CBA-4B4E-AF1F-9F1FD1C71B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79A338A9-AF71-8C5E-D63D-3F716D1E186C}"/>
              </a:ext>
            </a:extLst>
          </p:cNvPr>
          <p:cNvSpPr/>
          <p:nvPr/>
        </p:nvSpPr>
        <p:spPr>
          <a:xfrm flipV="1">
            <a:off x="1068475" y="4791924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67C4291-68CB-6C0D-C947-970EAC5FD559}"/>
              </a:ext>
            </a:extLst>
          </p:cNvPr>
          <p:cNvSpPr/>
          <p:nvPr/>
        </p:nvSpPr>
        <p:spPr>
          <a:xfrm flipV="1">
            <a:off x="1921326" y="3164477"/>
            <a:ext cx="702127" cy="20900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C018B16-9BFD-713F-E7A0-B6FF47B0ADBF}"/>
              </a:ext>
            </a:extLst>
          </p:cNvPr>
          <p:cNvSpPr/>
          <p:nvPr/>
        </p:nvSpPr>
        <p:spPr>
          <a:xfrm flipV="1">
            <a:off x="1494066" y="3998822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207EB79E-1B1D-1616-41D8-E9C8F74F3583}"/>
              </a:ext>
            </a:extLst>
          </p:cNvPr>
          <p:cNvSpPr/>
          <p:nvPr/>
        </p:nvSpPr>
        <p:spPr>
          <a:xfrm>
            <a:off x="7683501" y="415200"/>
            <a:ext cx="4195536" cy="4145370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B01CD0-35C8-2243-1C2A-D05CAE5A2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708" y="900116"/>
            <a:ext cx="3645122" cy="283702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D964C0-E50B-30BA-701C-A041382BF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179" y="3961386"/>
            <a:ext cx="2708596" cy="119836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0092B9-5646-A811-54D0-CD0511994C88}"/>
              </a:ext>
            </a:extLst>
          </p:cNvPr>
          <p:cNvSpPr txBox="1"/>
          <p:nvPr/>
        </p:nvSpPr>
        <p:spPr>
          <a:xfrm rot="10800000" flipH="1" flipV="1">
            <a:off x="2116183" y="5796469"/>
            <a:ext cx="9625694" cy="646331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counts only unique city names, providing the total number of different cities represented in the patient table.</a:t>
            </a:r>
          </a:p>
        </p:txBody>
      </p:sp>
    </p:spTree>
    <p:extLst>
      <p:ext uri="{BB962C8B-B14F-4D97-AF65-F5344CB8AC3E}">
        <p14:creationId xmlns:p14="http://schemas.microsoft.com/office/powerpoint/2010/main" val="4267762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D49E8-24D9-D96B-E8BD-4D17B1556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87D09DD2-C2D4-BCB0-D2B5-5838EE63D478}"/>
              </a:ext>
            </a:extLst>
          </p:cNvPr>
          <p:cNvSpPr/>
          <p:nvPr/>
        </p:nvSpPr>
        <p:spPr>
          <a:xfrm>
            <a:off x="692761" y="116268"/>
            <a:ext cx="6853464" cy="2283074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F60FFF0-3EE1-A1E8-34B2-4A77EB0ECE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1044B5D7-04E9-5A5E-2830-F1050C1B7AD4}"/>
              </a:ext>
            </a:extLst>
          </p:cNvPr>
          <p:cNvSpPr/>
          <p:nvPr/>
        </p:nvSpPr>
        <p:spPr>
          <a:xfrm flipV="1">
            <a:off x="841758" y="4559989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080C629-3F4B-276B-F4CA-7095DB49A1ED}"/>
              </a:ext>
            </a:extLst>
          </p:cNvPr>
          <p:cNvSpPr/>
          <p:nvPr/>
        </p:nvSpPr>
        <p:spPr>
          <a:xfrm flipV="1">
            <a:off x="1639365" y="2636141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2D28F69-9F69-39F7-7C86-60CCA7534934}"/>
              </a:ext>
            </a:extLst>
          </p:cNvPr>
          <p:cNvSpPr/>
          <p:nvPr/>
        </p:nvSpPr>
        <p:spPr>
          <a:xfrm flipV="1">
            <a:off x="1260024" y="3609166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DE98B619-7F54-516D-30CD-C4F644D02663}"/>
              </a:ext>
            </a:extLst>
          </p:cNvPr>
          <p:cNvSpPr/>
          <p:nvPr/>
        </p:nvSpPr>
        <p:spPr>
          <a:xfrm>
            <a:off x="7918468" y="720090"/>
            <a:ext cx="4195536" cy="4114800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7CB42D-5C0B-196A-C65C-E3B3BB38D26B}"/>
              </a:ext>
            </a:extLst>
          </p:cNvPr>
          <p:cNvSpPr txBox="1"/>
          <p:nvPr/>
        </p:nvSpPr>
        <p:spPr>
          <a:xfrm>
            <a:off x="906551" y="77604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display each city along with the number of patients living in that city</a:t>
            </a:r>
            <a:r>
              <a:rPr lang="en-IN" b="1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46F8A2-6B82-055F-05BB-DFF915C10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000" y="1129497"/>
            <a:ext cx="3590471" cy="294086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653A65-9750-1470-2C7A-E04E19E65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4025" y="2851082"/>
            <a:ext cx="2247900" cy="283415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50B26E-C53A-E740-0909-B27EB8F9FD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8324" y="2706671"/>
            <a:ext cx="2247901" cy="283415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CA9B37-1233-919B-4D83-D6EC5E2B468C}"/>
              </a:ext>
            </a:extLst>
          </p:cNvPr>
          <p:cNvSpPr txBox="1"/>
          <p:nvPr/>
        </p:nvSpPr>
        <p:spPr>
          <a:xfrm>
            <a:off x="2079171" y="5956409"/>
            <a:ext cx="9648009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provides a city-wise patient count, making it easy to identify which cities have the highest and lowest number of patients.</a:t>
            </a:r>
          </a:p>
        </p:txBody>
      </p:sp>
    </p:spTree>
    <p:extLst>
      <p:ext uri="{BB962C8B-B14F-4D97-AF65-F5344CB8AC3E}">
        <p14:creationId xmlns:p14="http://schemas.microsoft.com/office/powerpoint/2010/main" val="3635754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416AE-B2A3-BB44-D16D-2156F2841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32C24EB4-1A3F-F284-DB68-026C962D68E4}"/>
              </a:ext>
            </a:extLst>
          </p:cNvPr>
          <p:cNvSpPr/>
          <p:nvPr/>
        </p:nvSpPr>
        <p:spPr>
          <a:xfrm>
            <a:off x="547862" y="411480"/>
            <a:ext cx="6790198" cy="2739148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the doctor who treated the maximum number of patients.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BB1C83C-C12E-5709-185A-4564BF736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E9AAA53E-B10C-CBFC-F25E-16C1DC4F56D4}"/>
              </a:ext>
            </a:extLst>
          </p:cNvPr>
          <p:cNvSpPr/>
          <p:nvPr/>
        </p:nvSpPr>
        <p:spPr>
          <a:xfrm flipV="1">
            <a:off x="1060627" y="4923847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C6EF9A2-D746-EE92-FDC6-C1B0759A5F1E}"/>
              </a:ext>
            </a:extLst>
          </p:cNvPr>
          <p:cNvSpPr/>
          <p:nvPr/>
        </p:nvSpPr>
        <p:spPr>
          <a:xfrm flipV="1">
            <a:off x="1698486" y="3384505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8BD2FE0-C30E-EEF3-8063-BE23BB8B1ADD}"/>
              </a:ext>
            </a:extLst>
          </p:cNvPr>
          <p:cNvSpPr/>
          <p:nvPr/>
        </p:nvSpPr>
        <p:spPr>
          <a:xfrm flipV="1">
            <a:off x="1371916" y="4170156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EE303E0A-E585-49FE-71DC-EEA6B5111EC8}"/>
              </a:ext>
            </a:extLst>
          </p:cNvPr>
          <p:cNvSpPr/>
          <p:nvPr/>
        </p:nvSpPr>
        <p:spPr>
          <a:xfrm>
            <a:off x="7669447" y="726961"/>
            <a:ext cx="4195536" cy="3550554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F3C90D-E96A-6B10-C6C3-7554D020B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0291" y="1162338"/>
            <a:ext cx="3753847" cy="235442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1D0B7A-1522-6C33-0B5F-45FAAA96B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6940" y="3787228"/>
            <a:ext cx="2536372" cy="129718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CAC380-5F2C-DAC5-8724-78CFE4F8D8F6}"/>
              </a:ext>
            </a:extLst>
          </p:cNvPr>
          <p:cNvSpPr txBox="1"/>
          <p:nvPr/>
        </p:nvSpPr>
        <p:spPr>
          <a:xfrm>
            <a:off x="2166256" y="5519470"/>
            <a:ext cx="9583783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identifies the doctor who treated the maximum number of patients, highlighting the busiest doctor based on patient visits.</a:t>
            </a:r>
          </a:p>
        </p:txBody>
      </p:sp>
    </p:spTree>
    <p:extLst>
      <p:ext uri="{BB962C8B-B14F-4D97-AF65-F5344CB8AC3E}">
        <p14:creationId xmlns:p14="http://schemas.microsoft.com/office/powerpoint/2010/main" val="3931745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C8599-BD4B-320D-BCF6-D5866E34F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37DA8F92-BDE9-E8FA-93DC-67619FD0C6F5}"/>
              </a:ext>
            </a:extLst>
          </p:cNvPr>
          <p:cNvSpPr/>
          <p:nvPr/>
        </p:nvSpPr>
        <p:spPr>
          <a:xfrm>
            <a:off x="554390" y="264011"/>
            <a:ext cx="6668406" cy="2520679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the number of patients born in each decade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1628A5E-82CA-4DE8-E2CC-17E2FBF58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755AE57C-E3C7-DF66-BA8F-D83955F2ABEB}"/>
              </a:ext>
            </a:extLst>
          </p:cNvPr>
          <p:cNvSpPr/>
          <p:nvPr/>
        </p:nvSpPr>
        <p:spPr>
          <a:xfrm flipV="1">
            <a:off x="906551" y="4758847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B75F541-FBD0-80E2-81AF-C9D8C4CAD82D}"/>
              </a:ext>
            </a:extLst>
          </p:cNvPr>
          <p:cNvSpPr/>
          <p:nvPr/>
        </p:nvSpPr>
        <p:spPr>
          <a:xfrm flipV="1">
            <a:off x="1809750" y="3218151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5F0EA47-21CB-E83C-023A-397DA3E7331D}"/>
              </a:ext>
            </a:extLst>
          </p:cNvPr>
          <p:cNvSpPr/>
          <p:nvPr/>
        </p:nvSpPr>
        <p:spPr>
          <a:xfrm flipV="1">
            <a:off x="1341666" y="4000768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A7F884DA-F810-E101-CF44-E1553DE82F64}"/>
              </a:ext>
            </a:extLst>
          </p:cNvPr>
          <p:cNvSpPr/>
          <p:nvPr/>
        </p:nvSpPr>
        <p:spPr>
          <a:xfrm>
            <a:off x="7664632" y="845821"/>
            <a:ext cx="4195536" cy="4073596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EAA527-A3F7-09B8-256F-E43B56051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069" y="1233906"/>
            <a:ext cx="3600902" cy="297586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F05E45-061F-6654-E804-258EAB214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786" y="3775226"/>
            <a:ext cx="3341914" cy="171423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ED6A91-72ED-9FCA-EA28-2303AEBB9448}"/>
              </a:ext>
            </a:extLst>
          </p:cNvPr>
          <p:cNvSpPr txBox="1"/>
          <p:nvPr/>
        </p:nvSpPr>
        <p:spPr>
          <a:xfrm>
            <a:off x="2010455" y="5914830"/>
            <a:ext cx="9517516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provides a decade-wise summary of patients, making it easy to understand the distribution of patients across different birth decades.</a:t>
            </a:r>
          </a:p>
        </p:txBody>
      </p:sp>
    </p:spTree>
    <p:extLst>
      <p:ext uri="{BB962C8B-B14F-4D97-AF65-F5344CB8AC3E}">
        <p14:creationId xmlns:p14="http://schemas.microsoft.com/office/powerpoint/2010/main" val="996485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48B55-F0F5-8830-95BB-F3F5F1E3D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15DD5400-3A9D-4DA4-4EA9-355A9CAB6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91" y="5588563"/>
            <a:ext cx="1415329" cy="1070569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9E2F5FEF-ACC5-A057-73D3-3F06425C5424}"/>
              </a:ext>
            </a:extLst>
          </p:cNvPr>
          <p:cNvSpPr/>
          <p:nvPr/>
        </p:nvSpPr>
        <p:spPr>
          <a:xfrm flipV="1">
            <a:off x="1369694" y="5411283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A9B1C69-E1FB-0379-7844-A11FEEB60EEC}"/>
              </a:ext>
            </a:extLst>
          </p:cNvPr>
          <p:cNvSpPr/>
          <p:nvPr/>
        </p:nvSpPr>
        <p:spPr>
          <a:xfrm flipV="1">
            <a:off x="2216815" y="4102144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BA91446-F5E7-D0B1-892C-778F1A4AF0E1}"/>
              </a:ext>
            </a:extLst>
          </p:cNvPr>
          <p:cNvSpPr/>
          <p:nvPr/>
        </p:nvSpPr>
        <p:spPr>
          <a:xfrm flipV="1">
            <a:off x="1785529" y="4745787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92C812-E40D-3980-7B92-10598ACEA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256127" y="277584"/>
            <a:ext cx="886886" cy="925287"/>
          </a:xfrm>
          <a:prstGeom prst="rect">
            <a:avLst/>
          </a:prstGeom>
        </p:spPr>
      </p:pic>
      <p:sp>
        <p:nvSpPr>
          <p:cNvPr id="4" name="Cloud 3">
            <a:extLst>
              <a:ext uri="{FF2B5EF4-FFF2-40B4-BE49-F238E27FC236}">
                <a16:creationId xmlns:a16="http://schemas.microsoft.com/office/drawing/2014/main" id="{519627CB-7443-B411-8D1A-DA54B2861DA9}"/>
              </a:ext>
            </a:extLst>
          </p:cNvPr>
          <p:cNvSpPr/>
          <p:nvPr/>
        </p:nvSpPr>
        <p:spPr>
          <a:xfrm>
            <a:off x="2918942" y="487533"/>
            <a:ext cx="8817427" cy="4467257"/>
          </a:xfrm>
          <a:prstGeom prst="cloud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1989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623</TotalTime>
  <Words>616</Words>
  <Application>Microsoft Office PowerPoint</Application>
  <PresentationFormat>Widescreen</PresentationFormat>
  <Paragraphs>40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 Prasad</dc:creator>
  <cp:lastModifiedBy>SHIVA PRASAD</cp:lastModifiedBy>
  <cp:revision>1</cp:revision>
  <dcterms:created xsi:type="dcterms:W3CDTF">2026-07-21T15:39:21Z</dcterms:created>
  <dcterms:modified xsi:type="dcterms:W3CDTF">2026-10-29T05:15:55Z</dcterms:modified>
</cp:coreProperties>
</file>